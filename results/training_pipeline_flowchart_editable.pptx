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990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 snapToObjects="1">
      <p:cViewPr varScale="1">
        <p:scale>
          <a:sx n="83" d="100"/>
          <a:sy n="83" d="100"/>
        </p:scale>
        <p:origin x="1720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25120" y="153336"/>
            <a:ext cx="5461700" cy="45339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800" b="1" dirty="0">
                <a:solidFill>
                  <a:srgbClr val="2B2B2B"/>
                </a:solidFill>
                <a:latin typeface="Arial"/>
              </a:rPr>
              <a:t>ImageNet Pre-trained Weights</a:t>
            </a:r>
          </a:p>
        </p:txBody>
      </p:sp>
      <p:pic>
        <p:nvPicPr>
          <p:cNvPr id="3" name="Picture 2" descr="strip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1341120"/>
            <a:ext cx="2865120" cy="624840"/>
          </a:xfrm>
          <a:prstGeom prst="rect">
            <a:avLst/>
          </a:prstGeom>
        </p:spPr>
      </p:pic>
      <p:pic>
        <p:nvPicPr>
          <p:cNvPr id="4" name="Picture 3" descr="strip_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8221980"/>
            <a:ext cx="2865120" cy="624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171700"/>
            <a:ext cx="32004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dirty="0">
                <a:solidFill>
                  <a:srgbClr val="2B2B2B"/>
                </a:solidFill>
                <a:latin typeface="Arial"/>
              </a:rPr>
              <a:t>Multi-spectral soil images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" y="9029700"/>
            <a:ext cx="4652010" cy="27813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dirty="0">
                <a:solidFill>
                  <a:srgbClr val="2B2B2B"/>
                </a:solidFill>
                <a:latin typeface="Arial"/>
              </a:rPr>
              <a:t>Final output </a:t>
            </a:r>
            <a:r>
              <a:rPr lang="en-US" sz="2000" b="1" dirty="0">
                <a:solidFill>
                  <a:srgbClr val="2B2B2B"/>
                </a:solidFill>
                <a:latin typeface="Arial"/>
              </a:rPr>
              <a:t>- </a:t>
            </a:r>
            <a:r>
              <a:rPr sz="2000" b="1" dirty="0">
                <a:solidFill>
                  <a:srgbClr val="2B2B2B"/>
                </a:solidFill>
                <a:latin typeface="Arial"/>
              </a:rPr>
              <a:t>detected moisture levels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17670" y="1169670"/>
            <a:ext cx="3139440" cy="170307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25400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400" b="1" dirty="0">
                <a:solidFill>
                  <a:srgbClr val="7F6000"/>
                </a:solidFill>
                <a:latin typeface="Arial"/>
              </a:rPr>
              <a:t>Stage I</a:t>
            </a:r>
          </a:p>
          <a:p>
            <a:pPr algn="ctr"/>
            <a:r>
              <a:rPr sz="1900" b="0" dirty="0">
                <a:solidFill>
                  <a:srgbClr val="2B2B2B"/>
                </a:solidFill>
                <a:latin typeface="Arial"/>
              </a:rPr>
              <a:t>Multi-Spectral Base Training</a:t>
            </a:r>
          </a:p>
          <a:p>
            <a:pPr algn="ctr"/>
            <a:endParaRPr sz="1900" b="0" dirty="0">
              <a:solidFill>
                <a:srgbClr val="2B2B2B"/>
              </a:solidFill>
              <a:latin typeface="Arial"/>
            </a:endParaRPr>
          </a:p>
          <a:p>
            <a:pPr algn="ctr"/>
            <a:r>
              <a:rPr b="0" dirty="0">
                <a:solidFill>
                  <a:srgbClr val="595959"/>
                </a:solidFill>
                <a:latin typeface="Arial"/>
              </a:rPr>
              <a:t>v4 · v4-ir · v4-uv · </a:t>
            </a:r>
            <a:r>
              <a:rPr b="0" dirty="0" err="1">
                <a:solidFill>
                  <a:srgbClr val="595959"/>
                </a:solidFill>
                <a:latin typeface="Arial"/>
              </a:rPr>
              <a:t>ir</a:t>
            </a:r>
            <a:r>
              <a:rPr b="0" dirty="0">
                <a:solidFill>
                  <a:srgbClr val="595959"/>
                </a:solidFill>
                <a:latin typeface="Arial"/>
              </a:rPr>
              <a:t> (5c)</a:t>
            </a:r>
          </a:p>
          <a:p>
            <a:pPr algn="ctr"/>
            <a:r>
              <a:rPr b="1" dirty="0">
                <a:solidFill>
                  <a:srgbClr val="595959"/>
                </a:solidFill>
                <a:latin typeface="Arial"/>
              </a:rPr>
              <a:t>5sagf · September · stir-</a:t>
            </a:r>
            <a:r>
              <a:rPr b="1" dirty="0" err="1">
                <a:solidFill>
                  <a:srgbClr val="595959"/>
                </a:solidFill>
                <a:latin typeface="Arial"/>
              </a:rPr>
              <a:t>sep</a:t>
            </a:r>
            <a:endParaRPr b="1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56170" y="3417570"/>
            <a:ext cx="3291840" cy="171831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254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2400" b="1" dirty="0">
                <a:solidFill>
                  <a:srgbClr val="1F4E79"/>
                </a:solidFill>
                <a:latin typeface="Arial"/>
              </a:rPr>
              <a:t>Stage II</a:t>
            </a:r>
          </a:p>
          <a:p>
            <a:pPr algn="ctr"/>
            <a:r>
              <a:rPr sz="1900" b="0" dirty="0">
                <a:solidFill>
                  <a:srgbClr val="2B2B2B"/>
                </a:solidFill>
                <a:latin typeface="Arial"/>
              </a:rPr>
              <a:t>Domain Adaptation</a:t>
            </a:r>
          </a:p>
          <a:p>
            <a:pPr algn="ctr"/>
            <a:endParaRPr sz="1900" b="0" dirty="0">
              <a:solidFill>
                <a:srgbClr val="2B2B2B"/>
              </a:solidFill>
              <a:latin typeface="Arial"/>
            </a:endParaRPr>
          </a:p>
          <a:p>
            <a:pPr algn="ctr"/>
            <a:r>
              <a:rPr b="0" dirty="0">
                <a:solidFill>
                  <a:srgbClr val="595959"/>
                </a:solidFill>
                <a:latin typeface="Arial"/>
              </a:rPr>
              <a:t>September · </a:t>
            </a:r>
            <a:r>
              <a:rPr b="0" dirty="0" err="1">
                <a:solidFill>
                  <a:srgbClr val="595959"/>
                </a:solidFill>
                <a:latin typeface="Arial"/>
              </a:rPr>
              <a:t>ir</a:t>
            </a:r>
            <a:r>
              <a:rPr b="0" dirty="0">
                <a:solidFill>
                  <a:srgbClr val="595959"/>
                </a:solidFill>
                <a:latin typeface="Arial"/>
              </a:rPr>
              <a:t> (5c) · v4 · 5sagf</a:t>
            </a:r>
          </a:p>
          <a:p>
            <a:pPr algn="ctr"/>
            <a:r>
              <a:rPr b="0" dirty="0">
                <a:solidFill>
                  <a:srgbClr val="595959"/>
                </a:solidFill>
                <a:latin typeface="Arial"/>
              </a:rPr>
              <a:t>v4-sep combined · </a:t>
            </a:r>
            <a:r>
              <a:rPr b="0" dirty="0" err="1">
                <a:solidFill>
                  <a:srgbClr val="595959"/>
                </a:solidFill>
                <a:latin typeface="Arial"/>
              </a:rPr>
              <a:t>ir</a:t>
            </a:r>
            <a:r>
              <a:rPr b="0" dirty="0">
                <a:solidFill>
                  <a:srgbClr val="595959"/>
                </a:solidFill>
                <a:latin typeface="Arial"/>
              </a:rPr>
              <a:t>-combined</a:t>
            </a:r>
            <a:endParaRPr sz="1400" b="0" dirty="0">
              <a:solidFill>
                <a:srgbClr val="595959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646170" y="5703570"/>
            <a:ext cx="3291840" cy="1691640"/>
          </a:xfrm>
          <a:prstGeom prst="roundRect">
            <a:avLst>
              <a:gd name="adj" fmla="val 10000"/>
            </a:avLst>
          </a:prstGeom>
          <a:solidFill>
            <a:srgbClr val="DEEBF7"/>
          </a:solidFill>
          <a:ln w="254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3200" b="1" dirty="0">
                <a:solidFill>
                  <a:srgbClr val="1F4E79"/>
                </a:solidFill>
                <a:latin typeface="Arial"/>
              </a:rPr>
              <a:t>Stage III</a:t>
            </a:r>
          </a:p>
          <a:p>
            <a:pPr algn="ctr"/>
            <a:r>
              <a:rPr sz="1900" b="0" dirty="0">
                <a:solidFill>
                  <a:srgbClr val="2B2B2B"/>
                </a:solidFill>
                <a:latin typeface="Arial"/>
              </a:rPr>
              <a:t>Combined Fine-Tuning</a:t>
            </a:r>
          </a:p>
          <a:p>
            <a:pPr algn="ctr"/>
            <a:endParaRPr sz="1900" b="0" dirty="0">
              <a:solidFill>
                <a:srgbClr val="2B2B2B"/>
              </a:solidFill>
              <a:latin typeface="Arial"/>
            </a:endParaRPr>
          </a:p>
          <a:p>
            <a:pPr algn="ctr"/>
            <a:r>
              <a:rPr b="0" dirty="0">
                <a:solidFill>
                  <a:srgbClr val="595959"/>
                </a:solidFill>
                <a:latin typeface="Arial"/>
              </a:rPr>
              <a:t>v4-sep combined · </a:t>
            </a:r>
            <a:r>
              <a:rPr b="0" dirty="0" err="1">
                <a:solidFill>
                  <a:srgbClr val="595959"/>
                </a:solidFill>
                <a:latin typeface="Arial"/>
              </a:rPr>
              <a:t>ir</a:t>
            </a:r>
            <a:r>
              <a:rPr b="0" dirty="0">
                <a:solidFill>
                  <a:srgbClr val="595959"/>
                </a:solidFill>
                <a:latin typeface="Arial"/>
              </a:rPr>
              <a:t>-combined</a:t>
            </a:r>
          </a:p>
          <a:p>
            <a:pPr algn="ctr"/>
            <a:r>
              <a:rPr b="0" dirty="0">
                <a:solidFill>
                  <a:srgbClr val="595959"/>
                </a:solidFill>
                <a:latin typeface="Arial"/>
              </a:rPr>
              <a:t>stir-</a:t>
            </a:r>
            <a:r>
              <a:rPr b="0" dirty="0" err="1">
                <a:solidFill>
                  <a:srgbClr val="595959"/>
                </a:solidFill>
                <a:latin typeface="Arial"/>
              </a:rPr>
              <a:t>sep</a:t>
            </a:r>
            <a:r>
              <a:rPr b="0" dirty="0">
                <a:solidFill>
                  <a:srgbClr val="595959"/>
                </a:solidFill>
                <a:latin typeface="Arial"/>
              </a:rPr>
              <a:t> (5c) · v4-ir · v4-uv</a:t>
            </a:r>
          </a:p>
        </p:txBody>
      </p:sp>
      <p:sp>
        <p:nvSpPr>
          <p:cNvPr id="10" name="Can 9"/>
          <p:cNvSpPr/>
          <p:nvPr/>
        </p:nvSpPr>
        <p:spPr>
          <a:xfrm>
            <a:off x="8538210" y="1181100"/>
            <a:ext cx="1127760" cy="1337310"/>
          </a:xfrm>
          <a:prstGeom prst="can">
            <a:avLst/>
          </a:prstGeom>
          <a:solidFill>
            <a:srgbClr val="A9D18E"/>
          </a:solidFill>
          <a:ln w="1905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Arial"/>
              </a:rPr>
              <a:t>W1</a:t>
            </a:r>
          </a:p>
        </p:txBody>
      </p:sp>
      <p:sp>
        <p:nvSpPr>
          <p:cNvPr id="11" name="Oval 10"/>
          <p:cNvSpPr/>
          <p:nvPr/>
        </p:nvSpPr>
        <p:spPr>
          <a:xfrm>
            <a:off x="8538210" y="1181100"/>
            <a:ext cx="1127760" cy="365760"/>
          </a:xfrm>
          <a:prstGeom prst="ellipse">
            <a:avLst/>
          </a:prstGeom>
          <a:solidFill>
            <a:srgbClr val="C5E0B4"/>
          </a:solidFill>
          <a:ln w="1905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Can 11"/>
          <p:cNvSpPr/>
          <p:nvPr/>
        </p:nvSpPr>
        <p:spPr>
          <a:xfrm>
            <a:off x="4728210" y="3505200"/>
            <a:ext cx="1127760" cy="1337310"/>
          </a:xfrm>
          <a:prstGeom prst="can">
            <a:avLst/>
          </a:prstGeom>
          <a:solidFill>
            <a:srgbClr val="A9D18E"/>
          </a:solidFill>
          <a:ln w="1905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Arial"/>
              </a:rPr>
              <a:t>W2</a:t>
            </a:r>
          </a:p>
        </p:txBody>
      </p:sp>
      <p:sp>
        <p:nvSpPr>
          <p:cNvPr id="13" name="Oval 12"/>
          <p:cNvSpPr/>
          <p:nvPr/>
        </p:nvSpPr>
        <p:spPr>
          <a:xfrm>
            <a:off x="4728210" y="3505200"/>
            <a:ext cx="1127760" cy="365760"/>
          </a:xfrm>
          <a:prstGeom prst="ellipse">
            <a:avLst/>
          </a:prstGeom>
          <a:solidFill>
            <a:srgbClr val="C5E0B4"/>
          </a:solidFill>
          <a:ln w="1905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Can 13"/>
          <p:cNvSpPr/>
          <p:nvPr/>
        </p:nvSpPr>
        <p:spPr>
          <a:xfrm>
            <a:off x="1131570" y="5791200"/>
            <a:ext cx="1127760" cy="1337310"/>
          </a:xfrm>
          <a:prstGeom prst="can">
            <a:avLst/>
          </a:prstGeom>
          <a:solidFill>
            <a:srgbClr val="A9D18E"/>
          </a:solidFill>
          <a:ln w="1905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r>
              <a:rPr sz="4000" b="0">
                <a:solidFill>
                  <a:srgbClr val="FFFFFF"/>
                </a:solidFill>
                <a:latin typeface="Arial"/>
              </a:rPr>
              <a:t>W3</a:t>
            </a:r>
          </a:p>
        </p:txBody>
      </p:sp>
      <p:sp>
        <p:nvSpPr>
          <p:cNvPr id="15" name="Oval 14"/>
          <p:cNvSpPr/>
          <p:nvPr/>
        </p:nvSpPr>
        <p:spPr>
          <a:xfrm>
            <a:off x="1131570" y="5791200"/>
            <a:ext cx="1127760" cy="365760"/>
          </a:xfrm>
          <a:prstGeom prst="ellipse">
            <a:avLst/>
          </a:prstGeom>
          <a:solidFill>
            <a:srgbClr val="C5E0B4"/>
          </a:solidFill>
          <a:ln w="19050">
            <a:solidFill>
              <a:srgbClr val="5381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48850" y="1314450"/>
            <a:ext cx="213360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0" dirty="0">
                <a:solidFill>
                  <a:srgbClr val="2B2B2B"/>
                </a:solidFill>
                <a:latin typeface="Arial"/>
              </a:rPr>
              <a:t>Best weights</a:t>
            </a:r>
          </a:p>
          <a:p>
            <a:pPr algn="l"/>
            <a:r>
              <a:rPr sz="2000" b="0" dirty="0">
                <a:solidFill>
                  <a:srgbClr val="2B2B2B"/>
                </a:solidFill>
                <a:latin typeface="Arial"/>
              </a:rPr>
              <a:t>(</a:t>
            </a:r>
            <a:r>
              <a:rPr sz="2000" b="0" dirty="0" err="1">
                <a:solidFill>
                  <a:srgbClr val="2B2B2B"/>
                </a:solidFill>
                <a:latin typeface="Arial"/>
              </a:rPr>
              <a:t>ir</a:t>
            </a:r>
            <a:r>
              <a:rPr sz="2000" b="0" dirty="0">
                <a:solidFill>
                  <a:srgbClr val="2B2B2B"/>
                </a:solidFill>
                <a:latin typeface="Arial"/>
              </a:rPr>
              <a:t> / </a:t>
            </a:r>
            <a:r>
              <a:rPr sz="2000" b="0" dirty="0" err="1">
                <a:solidFill>
                  <a:srgbClr val="2B2B2B"/>
                </a:solidFill>
                <a:latin typeface="Arial"/>
              </a:rPr>
              <a:t>best.pt</a:t>
            </a:r>
            <a:r>
              <a:rPr sz="2000" b="0" dirty="0">
                <a:solidFill>
                  <a:srgbClr val="2B2B2B"/>
                </a:solidFill>
                <a:latin typeface="Arial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43300" y="3657600"/>
            <a:ext cx="1066800" cy="552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2000" b="0" dirty="0">
                <a:solidFill>
                  <a:srgbClr val="2B2B2B"/>
                </a:solidFill>
                <a:latin typeface="Arial"/>
              </a:rPr>
              <a:t>Adapted</a:t>
            </a:r>
          </a:p>
          <a:p>
            <a:pPr algn="r"/>
            <a:r>
              <a:rPr sz="2000" b="0" dirty="0">
                <a:solidFill>
                  <a:srgbClr val="2B2B2B"/>
                </a:solidFill>
                <a:latin typeface="Arial"/>
              </a:rPr>
              <a:t>weights</a:t>
            </a:r>
            <a:endParaRPr sz="1600" b="0" dirty="0">
              <a:solidFill>
                <a:srgbClr val="2B2B2B"/>
              </a:solidFill>
              <a:latin typeface="Arial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9100" y="5238750"/>
            <a:ext cx="3124200" cy="3429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0" dirty="0">
                <a:solidFill>
                  <a:srgbClr val="2B2B2B"/>
                </a:solidFill>
                <a:latin typeface="Arial"/>
              </a:rPr>
              <a:t>Final Detector Model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650230" y="701040"/>
            <a:ext cx="278130" cy="419100"/>
          </a:xfrm>
          <a:prstGeom prst="down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ight Arrow 19"/>
          <p:cNvSpPr/>
          <p:nvPr/>
        </p:nvSpPr>
        <p:spPr>
          <a:xfrm>
            <a:off x="3333750" y="1474470"/>
            <a:ext cx="826770" cy="278130"/>
          </a:xfrm>
          <a:prstGeom prst="right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ight Arrow 20"/>
          <p:cNvSpPr/>
          <p:nvPr/>
        </p:nvSpPr>
        <p:spPr>
          <a:xfrm>
            <a:off x="7410449" y="1474470"/>
            <a:ext cx="1093470" cy="278130"/>
          </a:xfrm>
          <a:prstGeom prst="right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Down Arrow 21"/>
          <p:cNvSpPr/>
          <p:nvPr/>
        </p:nvSpPr>
        <p:spPr>
          <a:xfrm>
            <a:off x="8964930" y="2571750"/>
            <a:ext cx="278130" cy="788670"/>
          </a:xfrm>
          <a:prstGeom prst="down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Left Arrow 22"/>
          <p:cNvSpPr/>
          <p:nvPr/>
        </p:nvSpPr>
        <p:spPr>
          <a:xfrm>
            <a:off x="5897880" y="4050029"/>
            <a:ext cx="1504950" cy="278130"/>
          </a:xfrm>
          <a:prstGeom prst="left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5154930" y="4895850"/>
            <a:ext cx="278130" cy="750570"/>
          </a:xfrm>
          <a:prstGeom prst="down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Left Arrow 24"/>
          <p:cNvSpPr/>
          <p:nvPr/>
        </p:nvSpPr>
        <p:spPr>
          <a:xfrm>
            <a:off x="2278380" y="6336030"/>
            <a:ext cx="1314450" cy="278130"/>
          </a:xfrm>
          <a:prstGeom prst="left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Down Arrow 25"/>
          <p:cNvSpPr/>
          <p:nvPr/>
        </p:nvSpPr>
        <p:spPr>
          <a:xfrm>
            <a:off x="1535430" y="7181850"/>
            <a:ext cx="278130" cy="754380"/>
          </a:xfrm>
          <a:prstGeom prst="downArrow">
            <a:avLst>
              <a:gd name="adj1" fmla="val 55000"/>
              <a:gd name="adj2" fmla="val 45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83</Words>
  <Application>Microsoft Macintosh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Kenneth Pieterson</cp:lastModifiedBy>
  <cp:revision>2</cp:revision>
  <dcterms:created xsi:type="dcterms:W3CDTF">2013-01-27T09:14:16Z</dcterms:created>
  <dcterms:modified xsi:type="dcterms:W3CDTF">2026-08-18T19:19:07Z</dcterms:modified>
  <cp:category/>
</cp:coreProperties>
</file>
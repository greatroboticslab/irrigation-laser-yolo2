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 snapToObjects="1">
      <p:cViewPr varScale="1">
        <p:scale>
          <a:sx n="83" d="100"/>
          <a:sy n="83" d="100"/>
        </p:scale>
        <p:origin x="172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3352" y="153336"/>
            <a:ext cx="8229600" cy="45339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 dirty="0">
                <a:solidFill>
                  <a:srgbClr val="2B2B2B"/>
                </a:solidFill>
                <a:latin typeface="Arial"/>
              </a:rPr>
              <a:t>COCO Pre-trained Weights (yolov5s.pt)</a:t>
            </a:r>
          </a:p>
        </p:txBody>
      </p:sp>
      <p:pic>
        <p:nvPicPr>
          <p:cNvPr id="3" name="Picture 2" descr="stri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341120"/>
            <a:ext cx="2865120" cy="624840"/>
          </a:xfrm>
          <a:prstGeom prst="rect">
            <a:avLst/>
          </a:prstGeom>
        </p:spPr>
      </p:pic>
      <p:pic>
        <p:nvPicPr>
          <p:cNvPr id="4" name="Picture 3" descr="strip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8221980"/>
            <a:ext cx="2865120" cy="62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171700"/>
            <a:ext cx="32004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dirty="0">
                <a:solidFill>
                  <a:srgbClr val="2B2B2B"/>
                </a:solidFill>
                <a:latin typeface="Arial"/>
              </a:rPr>
              <a:t>Multi-spectral soil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" y="9029700"/>
            <a:ext cx="5486400" cy="2781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dirty="0">
                <a:solidFill>
                  <a:srgbClr val="2B2B2B"/>
                </a:solidFill>
                <a:latin typeface="Arial"/>
              </a:rPr>
              <a:t>Final output - detected moisture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9352" y="116967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254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400" b="1" dirty="0">
                <a:solidFill>
                  <a:srgbClr val="7F6000"/>
                </a:solidFill>
                <a:latin typeface="Arial"/>
              </a:rPr>
              <a:t>Stage I</a:t>
            </a:r>
          </a:p>
          <a:p>
            <a:pPr algn="ctr"/>
            <a:r>
              <a:rPr sz="1900" b="0" dirty="0">
                <a:solidFill>
                  <a:srgbClr val="2B2B2B"/>
                </a:solidFill>
                <a:latin typeface="Arial"/>
              </a:rPr>
              <a:t>Multi-Spectral Base Training</a:t>
            </a:r>
          </a:p>
          <a:p>
            <a:pPr algn="ctr"/>
            <a:endParaRPr sz="1900" b="0" dirty="0">
              <a:solidFill>
                <a:srgbClr val="2B2B2B"/>
              </a:solidFill>
              <a:latin typeface="Arial"/>
            </a:endParaRP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UV-Soil-Only-Baseline · UV-Soil-Only-Target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IR-Soil-Only (7c) · UV-Strawberry-Pot (9c)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IR-Pot-Background (5c) · UV-Pot-Background (5c)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Mixed Color and Background (5c)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6170" y="3417570"/>
            <a:ext cx="3291840" cy="192024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400" b="1" dirty="0">
                <a:solidFill>
                  <a:srgbClr val="1F4E79"/>
                </a:solidFill>
                <a:latin typeface="Arial"/>
              </a:rPr>
              <a:t>Stage II</a:t>
            </a:r>
          </a:p>
          <a:p>
            <a:pPr algn="ctr"/>
            <a:r>
              <a:rPr sz="1900" b="0" dirty="0">
                <a:solidFill>
                  <a:srgbClr val="2B2B2B"/>
                </a:solidFill>
                <a:latin typeface="Arial"/>
              </a:rPr>
              <a:t>Pooled Training (COCO init)</a:t>
            </a:r>
          </a:p>
          <a:p>
            <a:pPr algn="ctr"/>
            <a:endParaRPr sz="1900" b="0" dirty="0">
              <a:solidFill>
                <a:srgbClr val="2B2B2B"/>
              </a:solidFill>
              <a:latin typeface="Arial"/>
            </a:endParaRP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UV-Combined: UV-Soil-Only-Baseline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+ UV-Strawberry-Pot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IR-Combined (5c): IR-Pot-Background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+ UV-Pot-Background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6170" y="5703570"/>
            <a:ext cx="3291840" cy="169164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  <a:latin typeface="Arial"/>
              </a:rPr>
              <a:t>Stage III</a:t>
            </a:r>
          </a:p>
          <a:p>
            <a:pPr algn="ctr"/>
            <a:r>
              <a:rPr sz="1900" b="0" dirty="0">
                <a:solidFill>
                  <a:srgbClr val="2B2B2B"/>
                </a:solidFill>
                <a:latin typeface="Arial"/>
              </a:rPr>
              <a:t>Domain-Specific Fine-Tuning</a:t>
            </a:r>
          </a:p>
          <a:p>
            <a:pPr algn="ctr"/>
            <a:endParaRPr sz="1900" b="0" dirty="0">
              <a:solidFill>
                <a:srgbClr val="2B2B2B"/>
              </a:solidFill>
              <a:latin typeface="Arial"/>
            </a:endParaRP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UV-Combined · IR-Combined (5c)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IR-Soil-Only (7c) · UV-Soil-Only-Target</a:t>
            </a:r>
          </a:p>
          <a:p>
            <a:pPr algn="ctr"/>
            <a:r>
              <a:rPr b="0" dirty="0" sz="1200">
                <a:solidFill>
                  <a:srgbClr val="595959"/>
                </a:solidFill>
                <a:latin typeface="Arial"/>
              </a:rPr>
              <a:t>Mixed Color and Background (5c)</a:t>
            </a:r>
          </a:p>
        </p:txBody>
      </p:sp>
      <p:sp>
        <p:nvSpPr>
          <p:cNvPr id="10" name="Can 9"/>
          <p:cNvSpPr/>
          <p:nvPr/>
        </p:nvSpPr>
        <p:spPr>
          <a:xfrm>
            <a:off x="8538210" y="1181100"/>
            <a:ext cx="1127760" cy="1337310"/>
          </a:xfrm>
          <a:prstGeom prst="can">
            <a:avLst/>
          </a:prstGeom>
          <a:solidFill>
            <a:srgbClr val="A9D18E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W1</a:t>
            </a:r>
          </a:p>
        </p:txBody>
      </p:sp>
      <p:sp>
        <p:nvSpPr>
          <p:cNvPr id="11" name="Oval 10"/>
          <p:cNvSpPr/>
          <p:nvPr/>
        </p:nvSpPr>
        <p:spPr>
          <a:xfrm>
            <a:off x="8538210" y="1181100"/>
            <a:ext cx="1127760" cy="365760"/>
          </a:xfrm>
          <a:prstGeom prst="ellipse">
            <a:avLst/>
          </a:prstGeom>
          <a:solidFill>
            <a:srgbClr val="C5E0B4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n 11"/>
          <p:cNvSpPr/>
          <p:nvPr/>
        </p:nvSpPr>
        <p:spPr>
          <a:xfrm>
            <a:off x="4728210" y="3505200"/>
            <a:ext cx="1127760" cy="1337310"/>
          </a:xfrm>
          <a:prstGeom prst="can">
            <a:avLst/>
          </a:prstGeom>
          <a:solidFill>
            <a:srgbClr val="A9D18E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3" name="Oval 12"/>
          <p:cNvSpPr/>
          <p:nvPr/>
        </p:nvSpPr>
        <p:spPr>
          <a:xfrm>
            <a:off x="4728210" y="3505200"/>
            <a:ext cx="1127760" cy="365760"/>
          </a:xfrm>
          <a:prstGeom prst="ellipse">
            <a:avLst/>
          </a:prstGeom>
          <a:solidFill>
            <a:srgbClr val="C5E0B4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n 13"/>
          <p:cNvSpPr/>
          <p:nvPr/>
        </p:nvSpPr>
        <p:spPr>
          <a:xfrm>
            <a:off x="1131570" y="5791200"/>
            <a:ext cx="1127760" cy="1337310"/>
          </a:xfrm>
          <a:prstGeom prst="can">
            <a:avLst/>
          </a:prstGeom>
          <a:solidFill>
            <a:srgbClr val="A9D18E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W3</a:t>
            </a:r>
          </a:p>
        </p:txBody>
      </p:sp>
      <p:sp>
        <p:nvSpPr>
          <p:cNvPr id="15" name="Oval 14"/>
          <p:cNvSpPr/>
          <p:nvPr/>
        </p:nvSpPr>
        <p:spPr>
          <a:xfrm>
            <a:off x="1131570" y="5791200"/>
            <a:ext cx="1127760" cy="365760"/>
          </a:xfrm>
          <a:prstGeom prst="ellipse">
            <a:avLst/>
          </a:prstGeom>
          <a:solidFill>
            <a:srgbClr val="C5E0B4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65792" y="1314450"/>
            <a:ext cx="237744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dirty="0">
                <a:solidFill>
                  <a:srgbClr val="2B2B2B"/>
                </a:solidFill>
                <a:latin typeface="Arial"/>
              </a:rPr>
              <a:t>Best weights</a:t>
            </a:r>
          </a:p>
          <a:p>
            <a:pPr algn="l"/>
            <a:r>
              <a:rPr sz="1800" b="0" dirty="0">
                <a:solidFill>
                  <a:srgbClr val="2B2B2B"/>
                </a:solidFill>
                <a:latin typeface="Arial"/>
              </a:rPr>
              <a:t>IR-Pot-Background</a:t>
            </a:r>
          </a:p>
          <a:p>
            <a:pPr algn="l"/>
            <a:r>
              <a:rPr sz="1800" b="0" dirty="0">
                <a:solidFill>
                  <a:srgbClr val="2B2B2B"/>
                </a:solidFill>
                <a:latin typeface="Arial"/>
              </a:rPr>
              <a:t>best.pt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3657600"/>
            <a:ext cx="10668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000" b="0" dirty="0">
                <a:solidFill>
                  <a:srgbClr val="2B2B2B"/>
                </a:solidFill>
                <a:latin typeface="Arial"/>
              </a:rPr>
              <a:t>Pooled</a:t>
            </a:r>
          </a:p>
          <a:p>
            <a:pPr algn="r"/>
            <a:r>
              <a:rPr sz="2000" b="0" dirty="0">
                <a:solidFill>
                  <a:srgbClr val="2B2B2B"/>
                </a:solidFill>
                <a:latin typeface="Arial"/>
              </a:rPr>
              <a:t>datasets</a:t>
            </a:r>
            <a:endParaRPr sz="1600" b="0" dirty="0">
              <a:solidFill>
                <a:srgbClr val="2B2B2B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9100" y="5238750"/>
            <a:ext cx="31242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0" dirty="0">
                <a:solidFill>
                  <a:srgbClr val="2B2B2B"/>
                </a:solidFill>
                <a:latin typeface="Arial"/>
              </a:rPr>
              <a:t>Final Detector Model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50230" y="701040"/>
            <a:ext cx="278130" cy="41910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3333750" y="1474470"/>
            <a:ext cx="566928" cy="278130"/>
          </a:xfrm>
          <a:prstGeom prst="righ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680960" y="1474470"/>
            <a:ext cx="822960" cy="278130"/>
          </a:xfrm>
          <a:prstGeom prst="righ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eft Arrow 22"/>
          <p:cNvSpPr/>
          <p:nvPr/>
        </p:nvSpPr>
        <p:spPr>
          <a:xfrm>
            <a:off x="5897880" y="4050029"/>
            <a:ext cx="1504950" cy="278130"/>
          </a:xfrm>
          <a:prstGeom prst="lef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154930" y="4895850"/>
            <a:ext cx="278130" cy="75057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eft Arrow 24"/>
          <p:cNvSpPr/>
          <p:nvPr/>
        </p:nvSpPr>
        <p:spPr>
          <a:xfrm>
            <a:off x="2278380" y="6336030"/>
            <a:ext cx="1314450" cy="278130"/>
          </a:xfrm>
          <a:prstGeom prst="lef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1535430" y="7181850"/>
            <a:ext cx="278130" cy="75438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9102852" y="2514600"/>
            <a:ext cx="0" cy="502920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66276" y="3017520"/>
            <a:ext cx="2354579" cy="0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384280" y="2980944"/>
            <a:ext cx="0" cy="3602736"/>
          </a:xfrm>
          <a:prstGeom prst="line">
            <a:avLst/>
          </a:prstGeom>
          <a:ln w="762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983730" y="6547104"/>
            <a:ext cx="4437125" cy="0"/>
          </a:xfrm>
          <a:prstGeom prst="line">
            <a:avLst/>
          </a:prstGeom>
          <a:ln w="7620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0" y="6629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2B2B2B"/>
                </a:solidFill>
                <a:latin typeface="Arial"/>
              </a:rPr>
              <a:t>Stage III starts from W1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Kenneth Pieterson</cp:lastModifiedBy>
  <cp:revision>2</cp:revision>
  <dcterms:created xsi:type="dcterms:W3CDTF">2013-01-27T09:14:16Z</dcterms:created>
  <dcterms:modified xsi:type="dcterms:W3CDTF">2026-08-18T19:19:07Z</dcterms:modified>
  <cp:category/>
</cp:coreProperties>
</file>